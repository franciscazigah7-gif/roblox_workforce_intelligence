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19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7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066925"/>
            <a:ext cx="3572023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419850"/>
            <a:ext cx="111442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2543175"/>
            <a:ext cx="6610826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1" i="0" u="none">
                <a:solidFill>
                  <a:srgbClr val="FFFFFF"/>
                </a:solidFill>
                <a:latin typeface="Plus Jakarta Sans"/>
              </a:rPr>
              <a:t>Workforce Intelligence &amp;</a:t>
            </a:r>
            <a:r>
              <a:t>
</a:t>
            </a:r>
            <a:r>
              <a:rPr sz="3750" b="1" i="0" u="none">
                <a:solidFill>
                  <a:srgbClr val="F97316"/>
                </a:solidFill>
                <a:latin typeface="Plus Jakarta Sans"/>
              </a:rPr>
              <a:t>Organizational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3781425"/>
            <a:ext cx="8572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A comprehensive analysis of departmental spend, revenue generation, operational health risks, and employee training efficiency across 30,000 workforce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649052"/>
            <a:ext cx="3434443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4A3B8"/>
                </a:solidFill>
                <a:latin typeface="Inter"/>
              </a:rPr>
              <a:t> Roblox Africa Operations | Ghana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6524625"/>
            <a:ext cx="2733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Roblox Africa Operations — Workforce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39475" y="6524625"/>
            <a:ext cx="6286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1 of 10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152650"/>
            <a:ext cx="14912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4648200"/>
            <a:ext cx="104775" cy="133350"/>
          </a:xfrm>
          <a:prstGeom prst="rect">
            <a:avLst/>
          </a:prstGeom>
        </p:spPr>
      </p:pic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D7E0F108-71FB-2EED-6125-456E711F34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537" y="4981575"/>
            <a:ext cx="171450" cy="13335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9D753DD-2A34-9BF1-8F8F-F810E200409F}"/>
              </a:ext>
            </a:extLst>
          </p:cNvPr>
          <p:cNvSpPr txBox="1"/>
          <p:nvPr/>
        </p:nvSpPr>
        <p:spPr>
          <a:xfrm>
            <a:off x="628650" y="4943475"/>
            <a:ext cx="620485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u="none" dirty="0">
                <a:solidFill>
                  <a:srgbClr val="94A3B8"/>
                </a:solidFill>
                <a:latin typeface="Inter"/>
              </a:rPr>
              <a:t>30,000 Employees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212181"/>
            <a:ext cx="11144250" cy="1276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631406"/>
            <a:ext cx="2657475" cy="16335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3631406"/>
            <a:ext cx="2657475" cy="16335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3631406"/>
            <a:ext cx="2657475" cy="16335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10650" y="3631406"/>
            <a:ext cx="2657475" cy="16335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6419850"/>
            <a:ext cx="111442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6524625"/>
            <a:ext cx="2733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Roblox Africa Operations — Workforce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20425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2 of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478881"/>
            <a:ext cx="11201400" cy="2381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Primary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793206"/>
            <a:ext cx="1066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Conduct an integrated workforce analysis enabling leadership to evaluate organizational performance, employee wellbeing, and cost efficiency across all operating departments.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869531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Inte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4155281"/>
            <a:ext cx="229028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Workforce 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469606"/>
            <a:ext cx="21812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Headcount, role mix, and gender balance across divisions.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925" y="3869531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82F6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0925" y="4155281"/>
            <a:ext cx="229028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Education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0925" y="4469606"/>
            <a:ext cx="21812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Degree levels and field of study versus job placement.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3869531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2C55E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4155281"/>
            <a:ext cx="229028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Cost Efficiency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850" y="4469606"/>
            <a:ext cx="21812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Compensation patterns and revenue output distribution.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8775" y="3869531"/>
            <a:ext cx="2181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A855F7"/>
                </a:solidFill>
                <a:latin typeface="Inter"/>
              </a:rPr>
              <a:t>04 &amp; 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8775" y="4155281"/>
            <a:ext cx="229028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Health &amp; Sustainability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8775" y="4469606"/>
            <a:ext cx="2181225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Operational wellbeing risks and long-term sustainability recommendations.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16981"/>
            <a:ext cx="190500" cy="190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5325" y="428625"/>
            <a:ext cx="11496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Key Analytical Objectives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2514600"/>
            <a:ext cx="2671762" cy="11668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6362" y="2514600"/>
            <a:ext cx="2671762" cy="11668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3795712"/>
            <a:ext cx="2671762" cy="11668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6362" y="3795712"/>
            <a:ext cx="2671762" cy="11668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19850"/>
            <a:ext cx="111442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24625"/>
            <a:ext cx="2733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Roblox Africa Operations — Workforce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20425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3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875" y="2514600"/>
            <a:ext cx="573071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Integrated Data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2828925"/>
            <a:ext cx="5457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Seven previously siloed database tables were profiled, cleaned, and integrated into a unified star schema data model (`roblox_db`):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400425"/>
            <a:ext cx="51720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Core Tables: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Employee, Department, Education, Health, 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729037"/>
            <a:ext cx="51720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Performance Tables: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EmployeePerformance, DepartmentPerformance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057650"/>
            <a:ext cx="517207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Granularity: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Individual-level tracking with departmental aggregates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2781300"/>
            <a:ext cx="21955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FB923C"/>
                </a:solidFill>
                <a:latin typeface="Plus Jakarta Sans ExtraBold"/>
              </a:rPr>
              <a:t>30K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257550"/>
            <a:ext cx="219551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Total Individual Employees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4487" y="2781300"/>
            <a:ext cx="21955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60A5FA"/>
                </a:solidFill>
                <a:latin typeface="Plus Jakarta Sans ExtraBold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4487" y="3257550"/>
            <a:ext cx="219551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Operating Departments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4062412"/>
            <a:ext cx="21955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4ADE80"/>
                </a:solidFill>
                <a:latin typeface="Plus Jakarta Sans ExtraBold"/>
              </a:rPr>
              <a:t>5 Yrs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4538662"/>
            <a:ext cx="219551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Historical Window (2021–2025)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4487" y="4062412"/>
            <a:ext cx="219551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C084FC"/>
                </a:solidFill>
                <a:latin typeface="Plus Jakarta Sans ExtraBold"/>
              </a:rPr>
              <a:t>150K+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4487" y="4538662"/>
            <a:ext cx="2195512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Total Records Integrated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3429000"/>
            <a:ext cx="1333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3757612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875" y="4086225"/>
            <a:ext cx="171450" cy="152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5325" y="428625"/>
            <a:ext cx="11496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Data &amp; Methodology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300537"/>
            <a:ext cx="11144250" cy="73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443162"/>
            <a:ext cx="3587650" cy="1666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025" y="2443162"/>
            <a:ext cx="3587799" cy="1666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325" y="2443162"/>
            <a:ext cx="3587650" cy="1666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19850"/>
            <a:ext cx="111442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24625"/>
            <a:ext cx="2733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Roblox Africa Operations — Workforce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20425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5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4452937"/>
            <a:ext cx="10725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B923C"/>
                </a:solidFill>
                <a:latin typeface="Inter"/>
              </a:rPr>
              <a:t>Key Insight:</a:t>
            </a:r>
            <a:r>
              <a:rPr sz="1125" b="0" i="0" u="none">
                <a:solidFill>
                  <a:srgbClr val="E2E8F0"/>
                </a:solidFill>
                <a:latin typeface="Inter"/>
              </a:rPr>
              <a:t> Workforce composition is remarkably evenly distributed across divisions—no single department shows a staffing bottleneck or gender imbalance requiring corrective restructuring.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09862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FB923C"/>
                </a:solidFill>
                <a:latin typeface="Plus Jakarta Sans ExtraBold"/>
              </a:rPr>
              <a:t>3.7K–3.8K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86112"/>
            <a:ext cx="326697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Balanced Headcount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500437"/>
            <a:ext cx="31114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Headcount range across all 8 operating divisions.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0150" y="2709862"/>
            <a:ext cx="31115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60A5FA"/>
                </a:solidFill>
                <a:latin typeface="Plus Jakarta Sans ExtraBold"/>
              </a:rPr>
              <a:t>~50 /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150" y="3186112"/>
            <a:ext cx="326712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Gender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0150" y="3500437"/>
            <a:ext cx="311154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Consistent gender split maintained in every department.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450" y="2709862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4ADE80"/>
                </a:solidFill>
                <a:latin typeface="Plus Jakarta Sans ExtraBold"/>
              </a:rPr>
              <a:t>6.4 Yrs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450" y="3186112"/>
            <a:ext cx="326697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Average Tenure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450" y="3500437"/>
            <a:ext cx="311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Uniform retention rates across the entire organization.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428625"/>
            <a:ext cx="11496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Objective 1: Workforce Composition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300537"/>
            <a:ext cx="11144250" cy="73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443162"/>
            <a:ext cx="3587650" cy="1666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025" y="2443162"/>
            <a:ext cx="3587799" cy="1666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325" y="2443162"/>
            <a:ext cx="3587650" cy="1666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19850"/>
            <a:ext cx="111442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24625"/>
            <a:ext cx="2733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Roblox Africa Operations — Workforce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20425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6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4452937"/>
            <a:ext cx="10725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B923C"/>
                </a:solidFill>
                <a:latin typeface="Inter"/>
              </a:rPr>
              <a:t>Key Insight:</a:t>
            </a:r>
            <a:r>
              <a:rPr sz="1125" b="0" i="0" u="none">
                <a:solidFill>
                  <a:srgbClr val="E2E8F0"/>
                </a:solidFill>
                <a:latin typeface="Inter"/>
              </a:rPr>
              <a:t> Education level is not currently a meaningful predictor of pay or performance. The organization does not reward formal credentials with higher compensation, nor does advanced education yield higher output.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09862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FB923C"/>
                </a:solidFill>
                <a:latin typeface="Plus Jakarta Sans ExtraBold"/>
              </a:rPr>
              <a:t>&lt; 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86112"/>
            <a:ext cx="326697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Salary Spread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500437"/>
            <a:ext cx="311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Negligible pay variance across different formal education levels.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0150" y="2709862"/>
            <a:ext cx="31115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60A5FA"/>
                </a:solidFill>
                <a:latin typeface="Plus Jakarta Sans ExtraBold"/>
              </a:rPr>
              <a:t>4.0 /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150" y="3186112"/>
            <a:ext cx="326712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Avg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0150" y="3500437"/>
            <a:ext cx="311154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Performance scores are virtually identical regardless of degree.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450" y="2709862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C084FC"/>
                </a:solidFill>
                <a:latin typeface="Plus Jakarta Sans ExtraBold"/>
              </a:rPr>
              <a:t>Flat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450" y="3186112"/>
            <a:ext cx="326697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Credential Correlation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450" y="3500437"/>
            <a:ext cx="311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Zero correlation between field of study and job output.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428625"/>
            <a:ext cx="11496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Objective 2: Education vs. Performance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300537"/>
            <a:ext cx="11144250" cy="73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443162"/>
            <a:ext cx="3587650" cy="1666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025" y="2443162"/>
            <a:ext cx="3587799" cy="1666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325" y="2443162"/>
            <a:ext cx="3587650" cy="1666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19850"/>
            <a:ext cx="111442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24625"/>
            <a:ext cx="2733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Roblox Africa Operations — Workforce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20425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7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4452937"/>
            <a:ext cx="10725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B923C"/>
                </a:solidFill>
                <a:latin typeface="Inter"/>
              </a:rPr>
              <a:t>Key Insight:</a:t>
            </a:r>
            <a:r>
              <a:rPr sz="1125" b="0" i="0" u="none">
                <a:solidFill>
                  <a:srgbClr val="E2E8F0"/>
                </a:solidFill>
                <a:latin typeface="Inter"/>
              </a:rPr>
              <a:t> Salary expenditure is flat, but revenue output per dollar spent varies significantly. The efficiency gap is purely operational—driven by business unit output rather than compensation disparities.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09862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4ADE80"/>
                </a:solidFill>
                <a:latin typeface="Plus Jakarta Sans ExtraBold"/>
              </a:rPr>
              <a:t>1.80x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86112"/>
            <a:ext cx="326697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Human Resources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500437"/>
            <a:ext cx="311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Highest revenue-per-cost efficiency ratio across departments.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0150" y="2709862"/>
            <a:ext cx="31115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FB923C"/>
                </a:solidFill>
                <a:latin typeface="Plus Jakarta Sans ExtraBold"/>
              </a:rPr>
              <a:t>1.46x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150" y="3186112"/>
            <a:ext cx="326712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Product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0150" y="3500437"/>
            <a:ext cx="3111549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Weakest revenue-per-cost efficiency ratio.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450" y="2709862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60A5FA"/>
                </a:solidFill>
                <a:latin typeface="Plus Jakarta Sans ExtraBold"/>
              </a:rPr>
              <a:t>$8.7K–$8.8K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450" y="3186112"/>
            <a:ext cx="326697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Average Salary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450" y="3500437"/>
            <a:ext cx="311140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Salary cost remains virtually uniform company-wide.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428625"/>
            <a:ext cx="11496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Objective 3: Cost Efficiency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300537"/>
            <a:ext cx="11144250" cy="73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443162"/>
            <a:ext cx="3587650" cy="1666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025" y="2443162"/>
            <a:ext cx="3587799" cy="1666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325" y="2443162"/>
            <a:ext cx="3587650" cy="1666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19850"/>
            <a:ext cx="111442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24625"/>
            <a:ext cx="2733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Roblox Africa Operations — Workforce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20425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8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4452937"/>
            <a:ext cx="10725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B923C"/>
                </a:solidFill>
                <a:latin typeface="Inter"/>
              </a:rPr>
              <a:t>Key Insight:</a:t>
            </a:r>
            <a:r>
              <a:rPr sz="1125" b="0" i="0" u="none">
                <a:solidFill>
                  <a:srgbClr val="E2E8F0"/>
                </a:solidFill>
                <a:latin typeface="Inter"/>
              </a:rPr>
              <a:t> Operational health risk is systemic rather than localized. It impacts roughly 33% to 49% of the workforce equally in every department, pointing to a company-wide policy or renewal-process gap.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09862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FB923C"/>
                </a:solidFill>
                <a:latin typeface="Plus Jakarta Sans ExtraBold"/>
              </a:rPr>
              <a:t>~33%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86112"/>
            <a:ext cx="326697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Expired Insurance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500437"/>
            <a:ext cx="311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One-third of employees hold expired insurance policies.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0150" y="2709862"/>
            <a:ext cx="31115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C084FC"/>
                </a:solidFill>
                <a:latin typeface="Plus Jakarta Sans ExtraBold"/>
              </a:rPr>
              <a:t>~49%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150" y="3186112"/>
            <a:ext cx="326712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Leave Ineligible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0150" y="3500437"/>
            <a:ext cx="311154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Half of workforce is currently ineligible for formal leave.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450" y="2709862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60A5FA"/>
                </a:solidFill>
                <a:latin typeface="Plus Jakarta Sans ExtraBold"/>
              </a:rPr>
              <a:t>15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450" y="3186112"/>
            <a:ext cx="326697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Avg Leave Balance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450" y="3500437"/>
            <a:ext cx="311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Average medical leave balance remaining per employee.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428625"/>
            <a:ext cx="11496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Objective 4: Health &amp; Wellbeing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4300537"/>
            <a:ext cx="11144250" cy="733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443162"/>
            <a:ext cx="3587650" cy="1666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025" y="2443162"/>
            <a:ext cx="3587799" cy="1666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0325" y="2443162"/>
            <a:ext cx="3587650" cy="1666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6419850"/>
            <a:ext cx="111442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3875" y="6524625"/>
            <a:ext cx="2733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Roblox Africa Operations — Workforce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20425" y="6524625"/>
            <a:ext cx="6477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9 of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2475" y="4452937"/>
            <a:ext cx="107251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B923C"/>
                </a:solidFill>
                <a:latin typeface="Inter"/>
              </a:rPr>
              <a:t>Key Insight:</a:t>
            </a:r>
            <a:r>
              <a:rPr sz="1125" b="0" i="0" u="none">
                <a:solidFill>
                  <a:srgbClr val="E2E8F0"/>
                </a:solidFill>
                <a:latin typeface="Inter"/>
              </a:rPr>
              <a:t> Training hours track operational expense more closely than they drive performance or revenue output. This highlights a clear training ROI gap that requires curriculum re-alignment.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2709862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60A5FA"/>
                </a:solidFill>
                <a:latin typeface="Plus Jakarta Sans ExtraBold"/>
              </a:rPr>
              <a:t>r ≈ 0.23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186112"/>
            <a:ext cx="326697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FDBA74"/>
                </a:solidFill>
                <a:latin typeface="Plus Jakarta Sans SemiBold"/>
              </a:rPr>
              <a:t>Vs.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500437"/>
            <a:ext cx="311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Weak correlation between completed training hours and performance scores.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0150" y="2709862"/>
            <a:ext cx="31115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FB923C"/>
                </a:solidFill>
                <a:latin typeface="Plus Jakarta Sans ExtraBold"/>
              </a:rPr>
              <a:t>r ≈ 0.11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150" y="3186112"/>
            <a:ext cx="326712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Vs. Revenue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0150" y="3500437"/>
            <a:ext cx="3111549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Negligible link between training hours and top-line revenue output.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450" y="2709862"/>
            <a:ext cx="3111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C084FC"/>
                </a:solidFill>
                <a:latin typeface="Plus Jakarta Sans ExtraBold"/>
              </a:rPr>
              <a:t>r ≈ 0.24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8450" y="3186112"/>
            <a:ext cx="326697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DBA74"/>
                </a:solidFill>
                <a:latin typeface="Plus Jakarta Sans SemiBold"/>
              </a:rPr>
              <a:t>Vs. Total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8450" y="3500437"/>
            <a:ext cx="31114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Training hours track operational cost higher than performance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325" y="428625"/>
            <a:ext cx="11496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Training Investment vs. Output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38250"/>
            <a:ext cx="11144250" cy="4705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6419850"/>
            <a:ext cx="111442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3875" y="6524625"/>
            <a:ext cx="2733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Roblox Africa Operations — Workforce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0900" y="6524625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4 of 10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8825" y="3640931"/>
            <a:ext cx="51435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05287" y="4212431"/>
            <a:ext cx="37814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E2E8F0"/>
                </a:solidFill>
                <a:latin typeface="Inter SemiBold"/>
              </a:rPr>
              <a:t>PASTE POWER BI DASHBOARD SCREENSHOT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9525" y="4441031"/>
            <a:ext cx="45529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64748B"/>
                </a:solidFill>
                <a:latin typeface="Inter"/>
              </a:rPr>
              <a:t>Interactive view — Filterable by Department and Year in the Power BI Canvas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428625"/>
            <a:ext cx="11496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Plus Jakarta Sans"/>
              </a:rPr>
              <a:t>Live Dashboard Snapshot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78E47FA-A799-856D-996B-B6D817324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1447800"/>
            <a:ext cx="10840811" cy="43975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6419850"/>
            <a:ext cx="111442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6524625"/>
            <a:ext cx="27336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Roblox Africa Operations — Workforce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3275" y="6524625"/>
            <a:ext cx="704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Inter"/>
              </a:rPr>
              <a:t>Slide 10 of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1962150"/>
            <a:ext cx="5730716" cy="2381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FDBA74"/>
                </a:solidFill>
                <a:latin typeface="Plus Jakarta Sans SemiBold"/>
              </a:rPr>
              <a:t>Actionable Recommendations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" y="1985962"/>
            <a:ext cx="190500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2838450"/>
            <a:ext cx="8497661" cy="210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1" i="0" u="none" dirty="0">
                <a:solidFill>
                  <a:srgbClr val="CBD5E1"/>
                </a:solidFill>
                <a:latin typeface="Inter"/>
              </a:rPr>
              <a:t>Investigate Cost Efficiency: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Audit Product </a:t>
            </a:r>
            <a:r>
              <a:rPr sz="1400" b="0" i="0" u="none" dirty="0" err="1">
                <a:solidFill>
                  <a:srgbClr val="CBD5E1"/>
                </a:solidFill>
                <a:latin typeface="Inter"/>
              </a:rPr>
              <a:t>Mgmt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&amp; Marketing cost structures (lowest rev/cost at 1.46x–1.47x).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352800"/>
            <a:ext cx="8497661" cy="210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1" i="0" u="none" dirty="0">
                <a:solidFill>
                  <a:srgbClr val="CBD5E1"/>
                </a:solidFill>
                <a:latin typeface="Inter"/>
              </a:rPr>
              <a:t>Reassess Training ROI: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Shift from mandatory blanket hours to targeted competency micro-learning.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895726"/>
            <a:ext cx="8497661" cy="210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1" i="0" u="none" dirty="0">
                <a:solidFill>
                  <a:srgbClr val="CBD5E1"/>
                </a:solidFill>
                <a:latin typeface="Inter"/>
              </a:rPr>
              <a:t>Remediate Wellbeing Risk: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Deploy automated portal alerts to fix the 33% expired insurance deficit.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438650"/>
            <a:ext cx="8497661" cy="210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400" b="1" i="0" u="none" dirty="0">
                <a:solidFill>
                  <a:srgbClr val="CBD5E1"/>
                </a:solidFill>
                <a:latin typeface="Inter"/>
              </a:rPr>
              <a:t>Revisit Compensation Strategy:</a:t>
            </a:r>
            <a:r>
              <a:rPr sz="1400" b="0" i="0" u="none" dirty="0">
                <a:solidFill>
                  <a:srgbClr val="CBD5E1"/>
                </a:solidFill>
                <a:latin typeface="Inter"/>
              </a:rPr>
              <a:t> Base pay on demonstrated role-based skills rather than formal degrees.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325" y="428625"/>
            <a:ext cx="1149667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F8FAFC"/>
                </a:solidFill>
                <a:latin typeface="Plus Jakarta Sans"/>
              </a:rPr>
              <a:t>Recommendations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3875" y="428625"/>
            <a:ext cx="47625" cy="381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D91CD89F-1F54-A84F-37FD-8E5908FC1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C624B2C9-9E14-3E19-61CC-5D4B48EBB9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24312"/>
            <a:ext cx="2541240" cy="1514475"/>
          </a:xfrm>
          <a:prstGeom prst="rect">
            <a:avLst/>
          </a:prstGeom>
        </p:spPr>
      </p:pic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25CEB340-7E62-EC46-65BD-F469359283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7419" y="2233612"/>
            <a:ext cx="2541240" cy="1314450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6F277550-85FD-A2C9-DD32-0AB80CC718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3339" y="4024312"/>
            <a:ext cx="2541240" cy="1752600"/>
          </a:xfrm>
          <a:prstGeom prst="rect">
            <a:avLst/>
          </a:prstGeom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FCD9FD4D-0098-D0D5-2B1F-1D0D87EA8E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9259" y="2233612"/>
            <a:ext cx="2541240" cy="131445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217988D9-ABC0-21CE-8899-480AB8EA2FD9}"/>
              </a:ext>
            </a:extLst>
          </p:cNvPr>
          <p:cNvSpPr/>
          <p:nvPr/>
        </p:nvSpPr>
        <p:spPr>
          <a:xfrm>
            <a:off x="571500" y="3767137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A025BD-A138-8C77-D7F6-FD29463A29F2}"/>
              </a:ext>
            </a:extLst>
          </p:cNvPr>
          <p:cNvSpPr txBox="1"/>
          <p:nvPr/>
        </p:nvSpPr>
        <p:spPr>
          <a:xfrm>
            <a:off x="717995" y="4224337"/>
            <a:ext cx="2248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F97316"/>
                </a:solidFill>
                <a:latin typeface="Plus Jakarta Sans SemiBold"/>
              </a:rPr>
              <a:t>Q1 - Policy Audit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8B3236-9110-4D8F-25CC-5D764CFE5FE4}"/>
              </a:ext>
            </a:extLst>
          </p:cNvPr>
          <p:cNvSpPr txBox="1"/>
          <p:nvPr/>
        </p:nvSpPr>
        <p:spPr>
          <a:xfrm>
            <a:off x="771525" y="4538662"/>
            <a:ext cx="214119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Conduct full insurance renewal sweep and resolve expired policies across top departments.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45F992-9C34-FA7E-CD72-FB60CC322F21}"/>
              </a:ext>
            </a:extLst>
          </p:cNvPr>
          <p:cNvSpPr txBox="1"/>
          <p:nvPr/>
        </p:nvSpPr>
        <p:spPr>
          <a:xfrm>
            <a:off x="3532946" y="2377707"/>
            <a:ext cx="2248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F97316"/>
                </a:solidFill>
                <a:latin typeface="Plus Jakarta Sans SemiBold"/>
              </a:rPr>
              <a:t>Q2 - L&amp;D Reform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2E5712-DE72-32FE-CA87-BCD6F0A97900}"/>
              </a:ext>
            </a:extLst>
          </p:cNvPr>
          <p:cNvSpPr txBox="1"/>
          <p:nvPr/>
        </p:nvSpPr>
        <p:spPr>
          <a:xfrm>
            <a:off x="3607444" y="2715398"/>
            <a:ext cx="214119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Redesign training curriculum to focus on targeted skill uplift rather than raw logged hours.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FDF3DA-27CA-45A1-8316-EC52FE3F2748}"/>
              </a:ext>
            </a:extLst>
          </p:cNvPr>
          <p:cNvSpPr txBox="1"/>
          <p:nvPr/>
        </p:nvSpPr>
        <p:spPr>
          <a:xfrm>
            <a:off x="6389835" y="4224337"/>
            <a:ext cx="224824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F97316"/>
                </a:solidFill>
                <a:latin typeface="Plus Jakarta Sans SemiBold"/>
              </a:rPr>
              <a:t>Q3 - Budget Realignment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E523BF-065D-5E18-A918-FE49191B7A50}"/>
              </a:ext>
            </a:extLst>
          </p:cNvPr>
          <p:cNvSpPr txBox="1"/>
          <p:nvPr/>
        </p:nvSpPr>
        <p:spPr>
          <a:xfrm>
            <a:off x="6389835" y="4776787"/>
            <a:ext cx="2194719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Reallocate operational expenditure toward high-performing, high-margin revenue units.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801970-3896-2431-7766-26B8C8D656A3}"/>
              </a:ext>
            </a:extLst>
          </p:cNvPr>
          <p:cNvSpPr txBox="1"/>
          <p:nvPr/>
        </p:nvSpPr>
        <p:spPr>
          <a:xfrm>
            <a:off x="9225755" y="2377707"/>
            <a:ext cx="2248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u="none" dirty="0">
                <a:solidFill>
                  <a:srgbClr val="F97316"/>
                </a:solidFill>
                <a:latin typeface="Plus Jakarta Sans SemiBold"/>
              </a:rPr>
              <a:t>Q4 - Review &amp; Scale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DE8CDA-7067-FFDE-0FAD-EE1DE606CB33}"/>
              </a:ext>
            </a:extLst>
          </p:cNvPr>
          <p:cNvSpPr txBox="1"/>
          <p:nvPr/>
        </p:nvSpPr>
        <p:spPr>
          <a:xfrm>
            <a:off x="9279284" y="2715398"/>
            <a:ext cx="214119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b="0" i="0" u="none" dirty="0">
                <a:solidFill>
                  <a:srgbClr val="CBD5E1"/>
                </a:solidFill>
                <a:latin typeface="Inter"/>
              </a:rPr>
              <a:t>Measure post-intervention performance scores and track insurance compliance to 100%.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E9DBC1-F367-B298-579F-190F4E23769A}"/>
              </a:ext>
            </a:extLst>
          </p:cNvPr>
          <p:cNvSpPr txBox="1"/>
          <p:nvPr/>
        </p:nvSpPr>
        <p:spPr>
          <a:xfrm>
            <a:off x="742950" y="476250"/>
            <a:ext cx="11421427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2700" b="1" i="0" u="none" dirty="0">
                <a:solidFill>
                  <a:srgbClr val="F8FAFC"/>
                </a:solidFill>
                <a:latin typeface="Plus Jakarta Sans"/>
              </a:rPr>
              <a:t>Recommendations</a:t>
            </a:r>
            <a:endParaRPr sz="270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139F902-F10F-156C-E4EA-4FD60072F53E}"/>
              </a:ext>
            </a:extLst>
          </p:cNvPr>
          <p:cNvSpPr/>
          <p:nvPr/>
        </p:nvSpPr>
        <p:spPr>
          <a:xfrm>
            <a:off x="571500" y="476250"/>
            <a:ext cx="47625" cy="4286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17">
            <a:extLst>
              <a:ext uri="{FF2B5EF4-FFF2-40B4-BE49-F238E27FC236}">
                <a16:creationId xmlns:a16="http://schemas.microsoft.com/office/drawing/2014/main" id="{72B276FA-DDA9-C9BF-93C9-AF2F00501670}"/>
              </a:ext>
            </a:extLst>
          </p:cNvPr>
          <p:cNvSpPr/>
          <p:nvPr/>
        </p:nvSpPr>
        <p:spPr>
          <a:xfrm>
            <a:off x="1746870" y="3690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35C9B7A1-B096-2A33-DC1E-7ABD536D0566}"/>
              </a:ext>
            </a:extLst>
          </p:cNvPr>
          <p:cNvSpPr/>
          <p:nvPr/>
        </p:nvSpPr>
        <p:spPr>
          <a:xfrm>
            <a:off x="4582790" y="3690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19">
            <a:extLst>
              <a:ext uri="{FF2B5EF4-FFF2-40B4-BE49-F238E27FC236}">
                <a16:creationId xmlns:a16="http://schemas.microsoft.com/office/drawing/2014/main" id="{37CA86BF-CB73-578C-C446-C3A78AE527A1}"/>
              </a:ext>
            </a:extLst>
          </p:cNvPr>
          <p:cNvSpPr/>
          <p:nvPr/>
        </p:nvSpPr>
        <p:spPr>
          <a:xfrm>
            <a:off x="7418709" y="3690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20">
            <a:extLst>
              <a:ext uri="{FF2B5EF4-FFF2-40B4-BE49-F238E27FC236}">
                <a16:creationId xmlns:a16="http://schemas.microsoft.com/office/drawing/2014/main" id="{0ADFCAF4-0493-3A11-4106-10E60DFB14BF}"/>
              </a:ext>
            </a:extLst>
          </p:cNvPr>
          <p:cNvSpPr/>
          <p:nvPr/>
        </p:nvSpPr>
        <p:spPr>
          <a:xfrm>
            <a:off x="10254629" y="3690937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78937-0172-E8FA-F635-65B9AB755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87628A-D331-B491-F7FE-9F7BB71E27F5}"/>
              </a:ext>
            </a:extLst>
          </p:cNvPr>
          <p:cNvSpPr txBox="1"/>
          <p:nvPr/>
        </p:nvSpPr>
        <p:spPr>
          <a:xfrm>
            <a:off x="3660674" y="2659559"/>
            <a:ext cx="46529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7200" dirty="0">
                <a:solidFill>
                  <a:schemeClr val="accent6">
                    <a:lumMod val="75000"/>
                  </a:schemeClr>
                </a:solidFill>
                <a:latin typeface="Plus Jakarta Sans ExtraBold"/>
              </a:rPr>
              <a:t>THANK YOU</a:t>
            </a:r>
            <a:endParaRPr lang="en-US" sz="7200" dirty="0">
              <a:solidFill>
                <a:schemeClr val="accent6">
                  <a:lumMod val="75000"/>
                </a:schemeClr>
              </a:solidFill>
              <a:latin typeface="Plus Jakarta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11260982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847</Words>
  <Application>Microsoft Office PowerPoint</Application>
  <PresentationFormat>Widescreen</PresentationFormat>
  <Paragraphs>127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Inter</vt:lpstr>
      <vt:lpstr>Inter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Administrator</dc:creator>
  <cp:keywords/>
  <dc:description>generated using python-pptx</dc:description>
  <cp:lastModifiedBy>Francisca Zigah</cp:lastModifiedBy>
  <cp:revision>3</cp:revision>
  <dcterms:created xsi:type="dcterms:W3CDTF">2013-01-27T09:14:16Z</dcterms:created>
  <dcterms:modified xsi:type="dcterms:W3CDTF">2026-08-06T15:35:45Z</dcterms:modified>
  <cp:category/>
</cp:coreProperties>
</file>